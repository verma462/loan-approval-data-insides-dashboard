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8DF0A-07EB-D082-EA92-64E1D3B56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13657E-800E-C4EC-3693-761D1EBDD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DF618-0DF6-7F21-4891-7A38884A4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503C-8CB3-4766-8C00-5AC27E8F9A4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BBD1E-E6D7-2494-C0A5-FDC2FB44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6175A-4022-5E55-100A-7C4D0ECE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DD1F-529E-4C8A-89FF-63B47B24B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7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F19C1-ED4B-2A57-724D-4F12DF209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A4077-6F0E-2E68-3235-7ABE9D40E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657B5-E8AE-824F-8333-E3E213EC1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503C-8CB3-4766-8C00-5AC27E8F9A4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CB996-2DAC-4AEA-4DCF-C5BEBA86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BD3B5-72EC-DDFC-7C4E-B66CE904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DD1F-529E-4C8A-89FF-63B47B24B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04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7E0BA-3F8E-7231-904B-A329371CE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59EF1-2DEF-2E51-1A24-24FE5F662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1ADB5-CCFB-3430-6E64-C7186879C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503C-8CB3-4766-8C00-5AC27E8F9A4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CBFF3-6454-8CEC-4170-CA0485819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CEE42-E380-F1AF-386D-70A91F632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DD1F-529E-4C8A-89FF-63B47B24B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1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44639-AD4A-0B20-DE33-878CAFFF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3575A-6296-60CD-52AC-5C27A6AD4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F5F68-5B17-5204-6951-E6186B6DA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8B6F3-245F-0ECF-C49A-6BD202328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503C-8CB3-4766-8C00-5AC27E8F9A4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ABE0F-35A0-0F60-D1E4-5263F83E5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9A087-C3FC-C235-D8AC-15F85D4D7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DD1F-529E-4C8A-89FF-63B47B24B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05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3540D-712A-E5AA-8FCA-2D30ECE4B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E1DD4-3E07-1A82-1009-02A8D7482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DD0597-D1F7-390D-DCA6-717A3B43E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DD3787-B78F-FF36-B974-1F63772CE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E645B-3F80-1623-143E-20C439616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026463-A883-8455-69FA-DBBB677F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503C-8CB3-4766-8C00-5AC27E8F9A4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FAE7F7-DAC4-E0B0-EC87-51AC167B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93176F-7D22-2374-4117-1315B2814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DD1F-529E-4C8A-89FF-63B47B24B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05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3BF8-4680-DD96-E463-2A249104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71B19D-2E98-9F36-C122-8A3CEEDF9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503C-8CB3-4766-8C00-5AC27E8F9A4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E1C6C-B388-235C-2829-A680B4F10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AF091-C26C-A774-C7D8-0A180F1B9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DD1F-529E-4C8A-89FF-63B47B24B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757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88034-3E38-9A88-E743-08869DCC0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503C-8CB3-4766-8C00-5AC27E8F9A4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625A3-E420-FA24-1D96-73A038BBF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4CB0C-EE75-666B-69D0-48F2E117E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DD1F-529E-4C8A-89FF-63B47B24B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96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54DE-ED65-91C4-274C-D1571B181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91A3B-50B9-4D81-AB75-F60452B11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F87C9-19C8-0C49-131A-56082252C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1452D-AACA-0A7F-5C1A-ABD9D1274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503C-8CB3-4766-8C00-5AC27E8F9A4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6E859-A9A8-FC89-E9BD-006AC998C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453F6-D8EB-BD15-6DFA-8D1C1D9D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DD1F-529E-4C8A-89FF-63B47B24B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36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1FAE8-8B55-594D-8CED-C6934371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221CE4-CE61-B4AE-1978-1283D1F995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B2A22-42EA-F86C-001B-32729EB9E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2A315-A14C-285A-0262-7676ED76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503C-8CB3-4766-8C00-5AC27E8F9A4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93FD8-1213-572C-1DCA-FDA05A950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A47D3-7C3F-EC4D-7E52-BD8F43BFC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DD1F-529E-4C8A-89FF-63B47B24B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13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09224-ED5B-EDC7-C2EC-FF338F41E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61227-73B5-230B-67D6-F7B7D5E44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F2E5E-548B-3EF9-716E-072E6E83C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503C-8CB3-4766-8C00-5AC27E8F9A4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A858E-2452-C30D-72E1-DA9AC6F96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12EDC-A791-2E14-49DC-50FA65EA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DD1F-529E-4C8A-89FF-63B47B24B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85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617171-0FF6-27E7-63E7-A6FD07527F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7AC51-F635-2482-64CC-4AB2E306B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96E44-0D1D-195C-7977-C147DFFDC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503C-8CB3-4766-8C00-5AC27E8F9A4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D34EF-1AA9-591F-1697-5A911E596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CF7D7-8854-F270-CF9D-DC209E09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9DD1F-529E-4C8A-89FF-63B47B24B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97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D4B34-6038-39A2-E793-08A3A6AD9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85546-0F7B-7B3A-6DFA-68CC469BB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D441C-D5A4-8B99-128C-7FA1FA4E7C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E503C-8CB3-4766-8C00-5AC27E8F9A4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490F5-2E24-615A-4BE7-00C63688A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99790-2577-D6AF-B9D0-F214CF44B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9DD1F-529E-4C8A-89FF-63B47B24B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795135-FC11-4035-8427-675095F00576}"/>
              </a:ext>
            </a:extLst>
          </p:cNvPr>
          <p:cNvSpPr txBox="1"/>
          <p:nvPr/>
        </p:nvSpPr>
        <p:spPr>
          <a:xfrm>
            <a:off x="1244338" y="188536"/>
            <a:ext cx="7965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Aptos Display" panose="020B0004020202020204" pitchFamily="34" charset="0"/>
              </a:rPr>
              <a:t>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</a:rPr>
              <a:t>oan Approval Dashboard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A21E17-40BC-FC47-2B5B-F8E71173A46C}"/>
              </a:ext>
            </a:extLst>
          </p:cNvPr>
          <p:cNvSpPr txBox="1"/>
          <p:nvPr/>
        </p:nvSpPr>
        <p:spPr>
          <a:xfrm>
            <a:off x="1385740" y="1036948"/>
            <a:ext cx="90308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This presentation explains the components and insights of the Loan Approval Dashboard.</a:t>
            </a:r>
          </a:p>
          <a:p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Picture 6" descr="Screenshot 2025-12-06 172227.png">
            <a:extLst>
              <a:ext uri="{FF2B5EF4-FFF2-40B4-BE49-F238E27FC236}">
                <a16:creationId xmlns:a16="http://schemas.microsoft.com/office/drawing/2014/main" id="{941582C2-91F1-A121-810F-60C600376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740" y="2026761"/>
            <a:ext cx="9030878" cy="44292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2B21CA-CCC6-6776-ADC3-1F0F1A1B3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851" y="-149732"/>
            <a:ext cx="1866557" cy="185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207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E89ACB9-1BD6-6CF1-768A-96A535CCA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633" y="2116556"/>
            <a:ext cx="1932017" cy="193201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EBC57E-3312-D9A8-B6A8-E3F4CE9DA5DD}"/>
              </a:ext>
            </a:extLst>
          </p:cNvPr>
          <p:cNvSpPr txBox="1"/>
          <p:nvPr/>
        </p:nvSpPr>
        <p:spPr>
          <a:xfrm>
            <a:off x="895546" y="414779"/>
            <a:ext cx="9162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>
                    <a:lumMod val="50000"/>
                  </a:schemeClr>
                </a:solidFill>
              </a:rPr>
              <a:t>What is a Loan Approval Dashboard?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F8986-87FA-425B-5F92-F8D245238555}"/>
              </a:ext>
            </a:extLst>
          </p:cNvPr>
          <p:cNvSpPr txBox="1"/>
          <p:nvPr/>
        </p:nvSpPr>
        <p:spPr>
          <a:xfrm>
            <a:off x="975673" y="1136365"/>
            <a:ext cx="1022808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Loan Approval Dashboard visualizes key metrics related to loan applications, approvals, rejections, and applicant demographics.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41BA05-7932-9ED6-1A1C-5FA3617133E2}"/>
              </a:ext>
            </a:extLst>
          </p:cNvPr>
          <p:cNvSpPr txBox="1"/>
          <p:nvPr/>
        </p:nvSpPr>
        <p:spPr>
          <a:xfrm>
            <a:off x="575035" y="2400030"/>
            <a:ext cx="8861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💹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Key Metrics Summary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69355F-4EB8-A9E1-BCAF-A7E63946C770}"/>
              </a:ext>
            </a:extLst>
          </p:cNvPr>
          <p:cNvSpPr txBox="1"/>
          <p:nvPr/>
        </p:nvSpPr>
        <p:spPr>
          <a:xfrm>
            <a:off x="1178351" y="3082565"/>
            <a:ext cx="9822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slide discusses the main KPIs: Total Applicants, Approved Loans, Rejected Loans, and Approval Rate.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F8B72A-A62F-042C-F7C7-A4A4FCC7C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35" y="4154356"/>
            <a:ext cx="2153803" cy="20010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ADFE61-B314-5509-D134-78F553847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426" y="4195535"/>
            <a:ext cx="2153804" cy="19186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3F17974-3B98-7B01-F5A3-52EA143FC6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818" y="4195535"/>
            <a:ext cx="2318594" cy="18992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5F271DB-0FED-7596-5D33-490E5D9149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865" y="4154356"/>
            <a:ext cx="3448531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28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C6173AE-A831-1620-7779-FA286B29E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110" y="4838700"/>
            <a:ext cx="2143125" cy="2143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D8936-1EB8-23AB-4E3E-60751C4FA2B8}"/>
              </a:ext>
            </a:extLst>
          </p:cNvPr>
          <p:cNvSpPr txBox="1"/>
          <p:nvPr/>
        </p:nvSpPr>
        <p:spPr>
          <a:xfrm>
            <a:off x="1046375" y="358219"/>
            <a:ext cx="37801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sz="4400" dirty="0"/>
              <a:t>licer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48DD89-69A2-A270-7B24-D63596729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12" y="1127660"/>
            <a:ext cx="6525536" cy="12955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3C28AE-D807-02AC-7858-27BB533CE9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478" y="1125303"/>
            <a:ext cx="4048690" cy="8668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77CEDA0-BAD7-04CF-F80A-C1DF553479CF}"/>
              </a:ext>
            </a:extLst>
          </p:cNvPr>
          <p:cNvSpPr txBox="1"/>
          <p:nvPr/>
        </p:nvSpPr>
        <p:spPr>
          <a:xfrm>
            <a:off x="348792" y="2677212"/>
            <a:ext cx="593888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US" sz="2000" b="1" dirty="0"/>
              <a:t>he Employment Type slicer</a:t>
            </a:r>
            <a:r>
              <a:rPr lang="en-US" sz="2000" dirty="0"/>
              <a:t> helps users filter the entire dashboard based on the applicant’s job category.</a:t>
            </a:r>
            <a:br>
              <a:rPr lang="en-US" sz="2000" dirty="0"/>
            </a:br>
            <a:r>
              <a:rPr lang="en-US" sz="2000" dirty="0"/>
              <a:t>It includes seven categories: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Business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Freelancer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Self-Employed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Unemployed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Contract-Based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Salaried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Student</a:t>
            </a:r>
          </a:p>
          <a:p>
            <a:endParaRPr 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A9FD8B-F2D3-4FC6-1D76-FBAF1DC573CD}"/>
              </a:ext>
            </a:extLst>
          </p:cNvPr>
          <p:cNvSpPr txBox="1"/>
          <p:nvPr/>
        </p:nvSpPr>
        <p:spPr>
          <a:xfrm>
            <a:off x="7513163" y="2337847"/>
            <a:ext cx="4402317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Loan Purpose slicer</a:t>
            </a:r>
            <a:r>
              <a:rPr lang="en-US" sz="2000" dirty="0"/>
              <a:t> filters the dashboard based on the reason for taking a loan.</a:t>
            </a:r>
            <a:br>
              <a:rPr lang="en-US" sz="2000" dirty="0"/>
            </a:br>
            <a:r>
              <a:rPr lang="en-US" sz="2000" dirty="0"/>
              <a:t>Common categories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Personal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Business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Education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Medical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183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98313-CF74-CEC6-1920-0C08923CC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C8DF56-845B-24F9-DDF9-CE8E8509C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250" y="818906"/>
            <a:ext cx="4448411" cy="45722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68FFD7-536C-E124-5F17-C9C4EF4429FD}"/>
              </a:ext>
            </a:extLst>
          </p:cNvPr>
          <p:cNvSpPr txBox="1"/>
          <p:nvPr/>
        </p:nvSpPr>
        <p:spPr>
          <a:xfrm>
            <a:off x="847725" y="295275"/>
            <a:ext cx="6810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en-US" sz="4400" dirty="0"/>
              <a:t>verage Credit Score by 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3CDB36-49A1-D5A0-4BC7-34D5765B31C3}"/>
              </a:ext>
            </a:extLst>
          </p:cNvPr>
          <p:cNvSpPr txBox="1"/>
          <p:nvPr/>
        </p:nvSpPr>
        <p:spPr>
          <a:xfrm>
            <a:off x="847725" y="1457325"/>
            <a:ext cx="554355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This</a:t>
            </a:r>
            <a:r>
              <a:rPr lang="en-US" sz="2000" dirty="0"/>
              <a:t> visual displays the </a:t>
            </a:r>
            <a:r>
              <a:rPr lang="en-US" sz="2000" b="1" dirty="0"/>
              <a:t>relationship between the applicant’s age and their average credit score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It uses a </a:t>
            </a:r>
            <a:r>
              <a:rPr lang="en-US" sz="2000" b="1" dirty="0"/>
              <a:t>line chart</a:t>
            </a:r>
            <a:r>
              <a:rPr lang="en-US" sz="2000" dirty="0"/>
              <a:t> to show how credit scores vary as age increases.</a:t>
            </a:r>
          </a:p>
          <a:p>
            <a:endParaRPr lang="en-US" dirty="0"/>
          </a:p>
          <a:p>
            <a:r>
              <a:rPr lang="en-US" sz="2000" b="1" dirty="0"/>
              <a:t>Key Insights:</a:t>
            </a:r>
          </a:p>
          <a:p>
            <a:r>
              <a:rPr lang="en-US" sz="2000" dirty="0"/>
              <a:t>Younger applicants (age 20–30) often show </a:t>
            </a:r>
            <a:r>
              <a:rPr lang="en-US" sz="2000" b="1" dirty="0"/>
              <a:t>more fluctuations</a:t>
            </a:r>
            <a:r>
              <a:rPr lang="en-US" sz="2000" dirty="0"/>
              <a:t> in credit score.</a:t>
            </a:r>
          </a:p>
          <a:p>
            <a:r>
              <a:rPr lang="en-US" sz="2000" dirty="0"/>
              <a:t>Middle-age applicants (30–50) generally maintain </a:t>
            </a:r>
            <a:r>
              <a:rPr lang="en-US" sz="2000" b="1" dirty="0"/>
              <a:t>more stable and higher</a:t>
            </a:r>
            <a:r>
              <a:rPr lang="en-US" sz="2000" dirty="0"/>
              <a:t> credit scores.</a:t>
            </a:r>
          </a:p>
          <a:p>
            <a:r>
              <a:rPr lang="en-US" sz="2000" dirty="0"/>
              <a:t>Credit scores may drop slightly after age 55 in some cases, indicating </a:t>
            </a:r>
            <a:r>
              <a:rPr lang="en-US" sz="2000" b="1" dirty="0"/>
              <a:t>less borrowing activity</a:t>
            </a:r>
            <a:r>
              <a:rPr lang="en-US" sz="2000" dirty="0"/>
              <a:t> or </a:t>
            </a:r>
            <a:r>
              <a:rPr lang="en-US" sz="2000" b="1" dirty="0"/>
              <a:t>different financial behavior</a:t>
            </a:r>
            <a:r>
              <a:rPr lang="en-US" sz="20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19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0E9852-5B85-A3AF-1ACB-8BBB1EBCB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82" y="1070401"/>
            <a:ext cx="4507294" cy="3314785"/>
          </a:xfrm>
          <a:prstGeom prst="rect">
            <a:avLst/>
          </a:prstGeom>
          <a:effectLst>
            <a:outerShdw blurRad="1079500" dist="50800" dir="5400000" sx="1000" sy="1000" algn="ctr" rotWithShape="0">
              <a:srgbClr val="000000">
                <a:alpha val="5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7D485E-D214-0809-6012-EB7E4B048350}"/>
              </a:ext>
            </a:extLst>
          </p:cNvPr>
          <p:cNvSpPr txBox="1"/>
          <p:nvPr/>
        </p:nvSpPr>
        <p:spPr>
          <a:xfrm>
            <a:off x="865240" y="235973"/>
            <a:ext cx="9222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L</a:t>
            </a:r>
            <a:r>
              <a:rPr lang="en-US" sz="2800" dirty="0"/>
              <a:t>oan Approval by Employment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2720EE-0571-86EE-8EA2-2DBFCB163D6D}"/>
              </a:ext>
            </a:extLst>
          </p:cNvPr>
          <p:cNvSpPr txBox="1"/>
          <p:nvPr/>
        </p:nvSpPr>
        <p:spPr>
          <a:xfrm>
            <a:off x="4912006" y="1088750"/>
            <a:ext cx="714234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</a:t>
            </a:r>
            <a:r>
              <a:rPr lang="en-US" b="1" dirty="0"/>
              <a:t>stacked horizontal bar chart</a:t>
            </a:r>
            <a:r>
              <a:rPr lang="en-US" dirty="0"/>
              <a:t> displays how loan approval status varies across different employment groups:</a:t>
            </a:r>
          </a:p>
          <a:p>
            <a:r>
              <a:rPr lang="en-US" b="1" dirty="0"/>
              <a:t>Salaried</a:t>
            </a:r>
            <a:endParaRPr lang="en-US" dirty="0"/>
          </a:p>
          <a:p>
            <a:r>
              <a:rPr lang="en-US" b="1" dirty="0"/>
              <a:t>Self-Employed</a:t>
            </a:r>
            <a:endParaRPr lang="en-US" dirty="0"/>
          </a:p>
          <a:p>
            <a:r>
              <a:rPr lang="en-US" b="1" dirty="0"/>
              <a:t>Freelancer</a:t>
            </a:r>
            <a:endParaRPr lang="en-US" dirty="0"/>
          </a:p>
          <a:p>
            <a:r>
              <a:rPr lang="en-US" b="1" dirty="0"/>
              <a:t>Student</a:t>
            </a:r>
            <a:endParaRPr lang="en-US" dirty="0"/>
          </a:p>
          <a:p>
            <a:r>
              <a:rPr lang="en-US" dirty="0"/>
              <a:t>Each bar is split into:</a:t>
            </a:r>
          </a:p>
          <a:p>
            <a:r>
              <a:rPr lang="en-US" b="1" dirty="0"/>
              <a:t>Approved (dark blue)</a:t>
            </a:r>
            <a:endParaRPr lang="en-US" dirty="0"/>
          </a:p>
          <a:p>
            <a:r>
              <a:rPr lang="en-US" b="1" dirty="0"/>
              <a:t>Pending (light blue)</a:t>
            </a:r>
            <a:endParaRPr lang="en-US" dirty="0"/>
          </a:p>
          <a:p>
            <a:r>
              <a:rPr lang="en-US" b="1" dirty="0"/>
              <a:t>Rejected (cyan/green)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47E17D-B8B0-87F2-CADB-79D0B819203B}"/>
              </a:ext>
            </a:extLst>
          </p:cNvPr>
          <p:cNvSpPr txBox="1"/>
          <p:nvPr/>
        </p:nvSpPr>
        <p:spPr>
          <a:xfrm>
            <a:off x="1091382" y="4582487"/>
            <a:ext cx="51226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Why This Visual Is Important: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Helps understand how employment affects loan approval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Useful for banks to target 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low-risk groups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and support high-potential groups.</a:t>
            </a:r>
          </a:p>
          <a:p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4845F2-B815-B819-9FB6-10FFEA5A2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5095" y="469768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90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C460EE-3931-4135-ECF5-CFC4E2AA020F}"/>
              </a:ext>
            </a:extLst>
          </p:cNvPr>
          <p:cNvSpPr txBox="1"/>
          <p:nvPr/>
        </p:nvSpPr>
        <p:spPr>
          <a:xfrm>
            <a:off x="855406" y="226142"/>
            <a:ext cx="81902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L</a:t>
            </a:r>
            <a:r>
              <a:rPr lang="en-US" sz="3200" dirty="0">
                <a:latin typeface="Arial Rounded MT Bold" panose="020F0704030504030204" pitchFamily="34" charset="0"/>
              </a:rPr>
              <a:t>oan Amount vs Approval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CC850-1CD1-EE51-C4BB-B5D6360BB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4510" y="892371"/>
            <a:ext cx="4069703" cy="3935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A7351D-A261-0E08-2B46-8CBE78C1C44B}"/>
              </a:ext>
            </a:extLst>
          </p:cNvPr>
          <p:cNvSpPr txBox="1"/>
          <p:nvPr/>
        </p:nvSpPr>
        <p:spPr>
          <a:xfrm>
            <a:off x="855406" y="1494503"/>
            <a:ext cx="60468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T</a:t>
            </a:r>
            <a:r>
              <a:rPr lang="en-US" sz="2400" dirty="0"/>
              <a:t>his bar chart compares the </a:t>
            </a:r>
            <a:r>
              <a:rPr lang="en-US" sz="2400" b="1" dirty="0"/>
              <a:t>total loan amount</a:t>
            </a:r>
            <a:r>
              <a:rPr lang="en-US" sz="2400" dirty="0"/>
              <a:t> for each approval status category:</a:t>
            </a:r>
          </a:p>
          <a:p>
            <a:r>
              <a:rPr lang="en-US" sz="2400" b="1" dirty="0"/>
              <a:t>Approved</a:t>
            </a:r>
            <a:endParaRPr lang="en-US" sz="2400" dirty="0"/>
          </a:p>
          <a:p>
            <a:r>
              <a:rPr lang="en-US" sz="2400" b="1" dirty="0"/>
              <a:t>Rejected</a:t>
            </a:r>
            <a:endParaRPr lang="en-US" sz="2400" dirty="0"/>
          </a:p>
          <a:p>
            <a:r>
              <a:rPr lang="en-US" sz="2400" b="1" dirty="0"/>
              <a:t>Pending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C36B95-640F-B60D-424C-276E5D0DE9ED}"/>
              </a:ext>
            </a:extLst>
          </p:cNvPr>
          <p:cNvSpPr txBox="1"/>
          <p:nvPr/>
        </p:nvSpPr>
        <p:spPr>
          <a:xfrm>
            <a:off x="855406" y="3429000"/>
            <a:ext cx="662694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Key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highest loan amount</a:t>
            </a:r>
            <a:r>
              <a:rPr lang="en-US" dirty="0"/>
              <a:t> is in the </a:t>
            </a:r>
            <a:r>
              <a:rPr lang="en-US" b="1" dirty="0"/>
              <a:t>Approved</a:t>
            </a:r>
            <a:r>
              <a:rPr lang="en-US" dirty="0"/>
              <a:t> category, showing strong creditworthy applicants.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significant amount also falls under </a:t>
            </a:r>
            <a:r>
              <a:rPr lang="en-US" b="1" dirty="0"/>
              <a:t>Rejected</a:t>
            </a:r>
            <a:r>
              <a:rPr lang="en-US" dirty="0"/>
              <a:t>, indicating many applications fail due to low credit score or high risk.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3965AA-220A-7CD1-E855-73F0CE9DF584}"/>
              </a:ext>
            </a:extLst>
          </p:cNvPr>
          <p:cNvSpPr txBox="1"/>
          <p:nvPr/>
        </p:nvSpPr>
        <p:spPr>
          <a:xfrm>
            <a:off x="983226" y="5214104"/>
            <a:ext cx="81902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Why This Is Important: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Helps understand how much total loan value the bank actually disburses.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Shows potential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risk exposure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in rejected applications.</a:t>
            </a:r>
          </a:p>
          <a:p>
            <a:endParaRPr lang="en-US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656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4E1EA2-4E3E-CBA0-E059-9970BFA4B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300" y="-228600"/>
            <a:ext cx="1871663" cy="18716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7DA424-3AAC-F44B-C5DE-E0117B38AE68}"/>
              </a:ext>
            </a:extLst>
          </p:cNvPr>
          <p:cNvSpPr txBox="1"/>
          <p:nvPr/>
        </p:nvSpPr>
        <p:spPr>
          <a:xfrm>
            <a:off x="828675" y="247650"/>
            <a:ext cx="10010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A</a:t>
            </a:r>
            <a:r>
              <a:rPr lang="en-US" sz="3200" dirty="0"/>
              <a:t>pproval Status Breakdown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59F2B1-1CEC-7A2D-38F8-D12F30F6F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524" y="994350"/>
            <a:ext cx="4465487" cy="3467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78C694-E240-74F5-B965-0D72D7D16BFA}"/>
              </a:ext>
            </a:extLst>
          </p:cNvPr>
          <p:cNvSpPr txBox="1"/>
          <p:nvPr/>
        </p:nvSpPr>
        <p:spPr>
          <a:xfrm>
            <a:off x="681037" y="1104900"/>
            <a:ext cx="5514975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This</a:t>
            </a:r>
            <a:r>
              <a:rPr lang="en-US" sz="2000" dirty="0"/>
              <a:t> </a:t>
            </a:r>
            <a:r>
              <a:rPr lang="en-US" sz="2000" b="1" dirty="0"/>
              <a:t>pie chart</a:t>
            </a:r>
            <a:r>
              <a:rPr lang="en-US" sz="2000" dirty="0"/>
              <a:t> displays the distribution of loan applications across the three approval statuses: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Approved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Rejected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Pending</a:t>
            </a:r>
            <a:endParaRPr lang="en-US" sz="2000" dirty="0"/>
          </a:p>
          <a:p>
            <a:r>
              <a:rPr lang="en-US" sz="2000" dirty="0"/>
              <a:t>Each segment shows both: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The number of applications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The percentage share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D186E3-048D-1EF7-50C0-74A6F2495C0E}"/>
              </a:ext>
            </a:extLst>
          </p:cNvPr>
          <p:cNvSpPr txBox="1"/>
          <p:nvPr/>
        </p:nvSpPr>
        <p:spPr>
          <a:xfrm>
            <a:off x="681037" y="4028777"/>
            <a:ext cx="63960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Approved (largest segment – around 62%)</a:t>
            </a:r>
            <a:br>
              <a:rPr lang="en-US" dirty="0"/>
            </a:br>
            <a:r>
              <a:rPr lang="en-US" dirty="0"/>
              <a:t>This indicates that a majority of applicants meet the lending criteria such as adequate credit score, stable income, or low debt ratio.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Rejected (second largest – around 30%)</a:t>
            </a:r>
            <a:br>
              <a:rPr lang="en-US" dirty="0"/>
            </a:br>
            <a:r>
              <a:rPr lang="en-US" dirty="0"/>
              <a:t>A considerable portion of applications are rejected due to reasons like low credit score, incomplete documents, or high loan risk.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707EA8-C265-5187-2317-18DF8E9C5CA0}"/>
              </a:ext>
            </a:extLst>
          </p:cNvPr>
          <p:cNvSpPr txBox="1"/>
          <p:nvPr/>
        </p:nvSpPr>
        <p:spPr>
          <a:xfrm>
            <a:off x="7248524" y="4772025"/>
            <a:ext cx="44654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Why This Visual Is Important: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It provides a clear 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overall picture of loan application decisions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Helps management monitor the 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approval effectiveness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of the loan process.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412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05C991D-83B9-FFD1-4E34-5B98FFD49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961" y="157162"/>
            <a:ext cx="2143125" cy="2143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908AEB-FF3C-568E-C3F4-FE0EAE6ED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411" y="977697"/>
            <a:ext cx="7758113" cy="490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67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504</Words>
  <Application>Microsoft Office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 Display</vt:lpstr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Kumar Bauri</dc:creator>
  <cp:lastModifiedBy>Raj Kumar Bauri</cp:lastModifiedBy>
  <cp:revision>6</cp:revision>
  <dcterms:created xsi:type="dcterms:W3CDTF">2025-12-06T11:59:27Z</dcterms:created>
  <dcterms:modified xsi:type="dcterms:W3CDTF">2025-12-06T14:41:17Z</dcterms:modified>
</cp:coreProperties>
</file>